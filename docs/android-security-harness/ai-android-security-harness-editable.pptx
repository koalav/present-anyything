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0"/>
            <a:ext cx="73152" cy="68580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713232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Android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분석 및 검증 Harness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9536" y="3246120"/>
            <a:ext cx="75895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후보 분석과 단말 기반 검증 루프를 결합한 Android 보안 점검 체계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49640" y="2029968"/>
            <a:ext cx="2468880" cy="1225296"/>
          </a:xfrm>
          <a:prstGeom prst="roundRect">
            <a:avLst>
              <a:gd name="adj" fmla="val 4478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96528" y="2267712"/>
            <a:ext cx="19659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16:9 Wide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Editable PPTX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6217920"/>
            <a:ext cx="29260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보고서형 프레젠테이션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 - 보안검토 업무량 증가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보안검토, APK 서명 리뷰, Spot 이슈 분석과 PLM 대응을 빠르게 처리해야 하는 운영 부담 확대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664208"/>
            <a:ext cx="49834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810512"/>
            <a:ext cx="4581144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보안검토 요청 건수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024128" y="2103120"/>
            <a:ext cx="458114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1,045건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42416" y="2578608"/>
            <a:ext cx="4544568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누적 검토 요청 기준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355080" y="1664208"/>
            <a:ext cx="49834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810512"/>
            <a:ext cx="4581144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APK 서명을 위한 리뷰 건수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6556248" y="2103120"/>
            <a:ext cx="458114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평균 약 150건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74536" y="2578608"/>
            <a:ext cx="4544568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처리되는 서명 전 검토 기준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22960" y="3401568"/>
            <a:ext cx="1417320" cy="530352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38144"/>
            <a:ext cx="13258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40280" y="3401568"/>
            <a:ext cx="5532120" cy="530352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3438144"/>
            <a:ext cx="54406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0" y="3401568"/>
            <a:ext cx="3566160" cy="530352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438144"/>
            <a:ext cx="34747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운영상 영향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3931920"/>
            <a:ext cx="1417320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977640"/>
            <a:ext cx="127101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다량 분석 대응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2240280" y="3931920"/>
            <a:ext cx="5532120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13432" y="3977640"/>
            <a:ext cx="538581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Spot성 이슈 분석, PLM 등 다량의 분석을 빠르게 수행해야 함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7772400" y="3931920"/>
            <a:ext cx="3566160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3977640"/>
            <a:ext cx="341985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처리 속도와 우선순위 판단 부담 증가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822960" y="4462272"/>
            <a:ext cx="1417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4507992"/>
            <a:ext cx="127101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의존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2240280" y="4462272"/>
            <a:ext cx="55321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4507992"/>
            <a:ext cx="538581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선별, 검증 계획 수립, 재현, 보고까지 담당자 판단에 의존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772400" y="4462272"/>
            <a:ext cx="3566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5552" y="4507992"/>
            <a:ext cx="341985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검토자별 결과 편차 발생 가능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22960" y="4992624"/>
            <a:ext cx="1417320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038344"/>
            <a:ext cx="127101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리스크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2240280" y="4992624"/>
            <a:ext cx="5532120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13432" y="5038344"/>
            <a:ext cx="538581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절차와 증거 기준이 매번 수동으로 정리됨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7772400" y="4992624"/>
            <a:ext cx="3566160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45552" y="5038344"/>
            <a:ext cx="341985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일관성과 재현성 저하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1051560" y="5705856"/>
            <a:ext cx="10012680" cy="512064"/>
          </a:xfrm>
          <a:prstGeom prst="roundRect">
            <a:avLst>
              <a:gd name="adj" fmla="val 10714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97864" y="5815584"/>
            <a:ext cx="972007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97864" y="6144768"/>
            <a:ext cx="9720072" cy="-182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업무량 증가 상황에서 수작업 중심 검토를 유지하면 후보 선별, 검증, 보고 품질의 일관성과 재현성이 낮아질 수 있음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 - AI 분석 적용 시 문제점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분석 속도를 높일 수 있으나 보정, 검증, 결과 일관성 측면의 통제가 필요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664208"/>
            <a:ext cx="2011680" cy="621792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00784"/>
            <a:ext cx="1920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34640" y="1664208"/>
            <a:ext cx="5394960" cy="621792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700784"/>
            <a:ext cx="53035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현상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664208"/>
            <a:ext cx="3108960" cy="621792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700784"/>
            <a:ext cx="30175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점검 영향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286000"/>
            <a:ext cx="201168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331720"/>
            <a:ext cx="186537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보정 필요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2834640" y="2286000"/>
            <a:ext cx="539496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2331720"/>
            <a:ext cx="524865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AI 분석 결과를 재확인하고 수정해야 하는 경우가 많음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8229600" y="2286000"/>
            <a:ext cx="310896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2331720"/>
            <a:ext cx="296265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효과 제한 및 검토자 부담 지속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822960" y="2907792"/>
            <a:ext cx="20116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2953512"/>
            <a:ext cx="186537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없는 이슈 확정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2834640" y="2907792"/>
            <a:ext cx="53949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7792" y="2953512"/>
            <a:ext cx="524865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검증 없이 이슈를 확정하는 경우가 많음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8229600" y="2907792"/>
            <a:ext cx="31089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2953512"/>
            <a:ext cx="296265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Positive 증가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822960" y="3529584"/>
            <a:ext cx="201168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575304"/>
            <a:ext cx="186537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변동성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2834640" y="3529584"/>
            <a:ext cx="539496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07792" y="3575304"/>
            <a:ext cx="524865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입력임에도 AI 분석 결과가 다르게 나오는 경우가 많음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229600" y="3529584"/>
            <a:ext cx="310896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3575304"/>
            <a:ext cx="296265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결과 신뢰성 저하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1051560" y="4663440"/>
            <a:ext cx="10012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97864" y="4773168"/>
            <a:ext cx="972007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방향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197864" y="5102352"/>
            <a:ext cx="972007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 결과는 확정 finding이 아니라 검증 대상 후보로 관리하고, 단말 재현과 evidence 기준을 거쳐 최종 채택해야 함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51560" y="5687568"/>
            <a:ext cx="10012680" cy="512064"/>
          </a:xfrm>
          <a:prstGeom prst="roundRect">
            <a:avLst>
              <a:gd name="adj" fmla="val 10714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97864" y="5797296"/>
            <a:ext cx="972007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97864" y="6126480"/>
            <a:ext cx="9720072" cy="-182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보정과 재현 검증 없이 AI 결과를 그대로 채택하면 오탐이 늘고 결과 신뢰성이 낮아짐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목표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빠른 분석과 실단말 검증을 결합해 재현 가능한 보안 점검 체계 구축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3450336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975104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143000" y="1965960"/>
            <a:ext cx="28651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취약점 분석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3084576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사용해 보안 취약점 후보와 관련 근거를 신속하게 분석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163568" y="2249424"/>
            <a:ext cx="182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55592" y="1874520"/>
            <a:ext cx="3450336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3608" y="1975104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812792" y="1965960"/>
            <a:ext cx="28651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Pain Point 해결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4538472" y="2331720"/>
            <a:ext cx="3084576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재현성, 과도한 수작업, 높은 False Positive 개선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833360" y="2249424"/>
            <a:ext cx="182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25384" y="1874520"/>
            <a:ext cx="3450336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3400" y="1975104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482584" y="1965960"/>
            <a:ext cx="28651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가능한 보고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8208264" y="2331720"/>
            <a:ext cx="3084576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실단말 검증 Harness로 검증자가 쉽게 재현 가능한 보고서 작성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005840" y="3794760"/>
            <a:ext cx="99669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2144" y="3904488"/>
            <a:ext cx="967435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상태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1152144" y="4233672"/>
            <a:ext cx="9674352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 결과를 빠르게 후보화하고, 실단말 재현 검증과 evidence를 포함한 보고서로 전환하여 검증자의 재현 부담을 낮춤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목표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Audit Harness 구성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역할을 분리하고 Harness가 실행, 수집, 상관분석을 일관되게 관리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86384" y="1572768"/>
            <a:ext cx="2788920" cy="1993392"/>
          </a:xfrm>
          <a:prstGeom prst="roundRect">
            <a:avLst>
              <a:gd name="adj" fmla="val 2752"/>
            </a:avLst>
          </a:prstGeom>
          <a:solidFill>
            <a:srgbClr val="FBFDFF"/>
          </a:solidFill>
          <a:ln w="1143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1737360"/>
            <a:ext cx="420624" cy="42062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829897"/>
            <a:ext cx="420624" cy="15983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810512"/>
            <a:ext cx="1965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987552" y="2286000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" y="2368296"/>
            <a:ext cx="256032" cy="256032"/>
          </a:xfrm>
          <a:prstGeom prst="ellipse">
            <a:avLst/>
          </a:prstGeom>
          <a:solidFill>
            <a:srgbClr val="16A34A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424623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26464" y="2359152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jadx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1426464" y="2514600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디컴파일 &amp; 코드 분석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987552" y="2770632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8992" y="2852928"/>
            <a:ext cx="256032" cy="256032"/>
          </a:xfrm>
          <a:prstGeom prst="ellipse">
            <a:avLst/>
          </a:prstGeom>
          <a:solidFill>
            <a:srgbClr val="16A34A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2909255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26464" y="2843784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apktool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1426464" y="2999232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리소스 디컴파일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987552" y="3255264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8992" y="3337560"/>
            <a:ext cx="256032" cy="256032"/>
          </a:xfrm>
          <a:prstGeom prst="ellipse">
            <a:avLst/>
          </a:prstGeom>
          <a:solidFill>
            <a:srgbClr val="16A34A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3393887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26464" y="3328416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aapt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1426464" y="3483864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정보 &amp; 리소스 덤프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987552" y="3739896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8992" y="3822192"/>
            <a:ext cx="256032" cy="256032"/>
          </a:xfrm>
          <a:prstGeom prst="ellipse">
            <a:avLst/>
          </a:prstGeom>
          <a:solidFill>
            <a:srgbClr val="16A34A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3878519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26464" y="3813048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Semgrep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1426464" y="3968496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기반 코드 스캔</a:t>
            </a:r>
            <a:endParaRPr lang="en-US" sz="710" dirty="0"/>
          </a:p>
        </p:txBody>
      </p:sp>
      <p:sp>
        <p:nvSpPr>
          <p:cNvPr id="32" name="Shape 30"/>
          <p:cNvSpPr/>
          <p:nvPr/>
        </p:nvSpPr>
        <p:spPr>
          <a:xfrm>
            <a:off x="786384" y="3803904"/>
            <a:ext cx="2788920" cy="1298448"/>
          </a:xfrm>
          <a:prstGeom prst="roundRect">
            <a:avLst>
              <a:gd name="adj" fmla="val 4225"/>
            </a:avLst>
          </a:prstGeom>
          <a:solidFill>
            <a:srgbClr val="FBFDFF"/>
          </a:solidFill>
          <a:ln w="11430">
            <a:solidFill>
              <a:srgbClr val="7E57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968496"/>
            <a:ext cx="420624" cy="420624"/>
          </a:xfrm>
          <a:prstGeom prst="ellipse">
            <a:avLst/>
          </a:prstGeom>
          <a:solidFill>
            <a:srgbClr val="7E57C2"/>
          </a:solidFill>
          <a:ln w="10160">
            <a:solidFill>
              <a:srgbClr val="7E57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4061033"/>
            <a:ext cx="420624" cy="15983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463040" y="4041648"/>
            <a:ext cx="1965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7E57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en-US" sz="1240" dirty="0"/>
          </a:p>
        </p:txBody>
      </p:sp>
      <p:sp>
        <p:nvSpPr>
          <p:cNvPr id="36" name="Shape 34"/>
          <p:cNvSpPr/>
          <p:nvPr/>
        </p:nvSpPr>
        <p:spPr>
          <a:xfrm>
            <a:off x="987552" y="4517136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7E57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" y="4599432"/>
            <a:ext cx="256032" cy="256032"/>
          </a:xfrm>
          <a:prstGeom prst="ellipse">
            <a:avLst/>
          </a:prstGeom>
          <a:solidFill>
            <a:srgbClr val="7E57C2"/>
          </a:solidFill>
          <a:ln w="10160">
            <a:solidFill>
              <a:srgbClr val="7E57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655759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426464" y="4590288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Ghidra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1426464" y="4745736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코드 분석</a:t>
            </a:r>
            <a:endParaRPr lang="en-US" sz="710" dirty="0"/>
          </a:p>
        </p:txBody>
      </p:sp>
      <p:sp>
        <p:nvSpPr>
          <p:cNvPr id="41" name="Shape 39"/>
          <p:cNvSpPr/>
          <p:nvPr/>
        </p:nvSpPr>
        <p:spPr>
          <a:xfrm>
            <a:off x="987552" y="5001768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7E57C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78992" y="5084064"/>
            <a:ext cx="256032" cy="256032"/>
          </a:xfrm>
          <a:prstGeom prst="ellipse">
            <a:avLst/>
          </a:prstGeom>
          <a:solidFill>
            <a:srgbClr val="7E57C2"/>
          </a:solidFill>
          <a:ln w="10160">
            <a:solidFill>
              <a:srgbClr val="7E57C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8992" y="5140391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426464" y="5074920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IDA Pro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1426464" y="5230368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바이너리 분석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8540496" y="1572768"/>
            <a:ext cx="2788920" cy="1993392"/>
          </a:xfrm>
          <a:prstGeom prst="roundRect">
            <a:avLst>
              <a:gd name="adj" fmla="val 2752"/>
            </a:avLst>
          </a:prstGeom>
          <a:solidFill>
            <a:srgbClr val="FBFDFF"/>
          </a:solidFill>
          <a:ln w="11430">
            <a:solidFill>
              <a:srgbClr val="0B74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05088" y="1737360"/>
            <a:ext cx="420624" cy="420624"/>
          </a:xfrm>
          <a:prstGeom prst="ellipse">
            <a:avLst/>
          </a:prstGeom>
          <a:solidFill>
            <a:srgbClr val="0B74DE"/>
          </a:solidFill>
          <a:ln w="10160">
            <a:solidFill>
              <a:srgbClr val="0B74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05088" y="1829897"/>
            <a:ext cx="420624" cy="15983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217152" y="1810512"/>
            <a:ext cx="1965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B7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Dynamic</a:t>
            </a:r>
            <a:endParaRPr lang="en-US" sz="1240" dirty="0"/>
          </a:p>
        </p:txBody>
      </p:sp>
      <p:sp>
        <p:nvSpPr>
          <p:cNvPr id="50" name="Shape 48"/>
          <p:cNvSpPr/>
          <p:nvPr/>
        </p:nvSpPr>
        <p:spPr>
          <a:xfrm>
            <a:off x="8741664" y="2286000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0B74D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33104" y="2368296"/>
            <a:ext cx="256032" cy="256032"/>
          </a:xfrm>
          <a:prstGeom prst="ellipse">
            <a:avLst/>
          </a:prstGeom>
          <a:solidFill>
            <a:srgbClr val="0B74DE"/>
          </a:solidFill>
          <a:ln w="10160">
            <a:solidFill>
              <a:srgbClr val="0B74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33104" y="2424623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180576" y="2359152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adb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9180576" y="2514600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제어</a:t>
            </a:r>
            <a:endParaRPr lang="en-US" sz="710" dirty="0"/>
          </a:p>
        </p:txBody>
      </p:sp>
      <p:sp>
        <p:nvSpPr>
          <p:cNvPr id="55" name="Shape 53"/>
          <p:cNvSpPr/>
          <p:nvPr/>
        </p:nvSpPr>
        <p:spPr>
          <a:xfrm>
            <a:off x="8741664" y="2770632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0B74D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33104" y="2852928"/>
            <a:ext cx="256032" cy="256032"/>
          </a:xfrm>
          <a:prstGeom prst="ellipse">
            <a:avLst/>
          </a:prstGeom>
          <a:solidFill>
            <a:srgbClr val="0B74DE"/>
          </a:solidFill>
          <a:ln w="10160">
            <a:solidFill>
              <a:srgbClr val="0B74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33104" y="2909255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180576" y="2843784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Frida</a:t>
            </a:r>
            <a:endParaRPr lang="en-US" sz="840" dirty="0"/>
          </a:p>
        </p:txBody>
      </p:sp>
      <p:sp>
        <p:nvSpPr>
          <p:cNvPr id="59" name="Text 57"/>
          <p:cNvSpPr/>
          <p:nvPr/>
        </p:nvSpPr>
        <p:spPr>
          <a:xfrm>
            <a:off x="9180576" y="2999232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후킹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8741664" y="3255264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0B74D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33104" y="3337560"/>
            <a:ext cx="256032" cy="256032"/>
          </a:xfrm>
          <a:prstGeom prst="ellipse">
            <a:avLst/>
          </a:prstGeom>
          <a:solidFill>
            <a:srgbClr val="0B74DE"/>
          </a:solidFill>
          <a:ln w="10160">
            <a:solidFill>
              <a:srgbClr val="0B74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33104" y="3393887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180576" y="3328416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9180576" y="3483864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탐색 &amp; 조작</a:t>
            </a:r>
            <a:endParaRPr lang="en-US" sz="710" dirty="0"/>
          </a:p>
        </p:txBody>
      </p:sp>
      <p:sp>
        <p:nvSpPr>
          <p:cNvPr id="65" name="Shape 63"/>
          <p:cNvSpPr/>
          <p:nvPr/>
        </p:nvSpPr>
        <p:spPr>
          <a:xfrm>
            <a:off x="8741664" y="3739896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0B74D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33104" y="3822192"/>
            <a:ext cx="256032" cy="256032"/>
          </a:xfrm>
          <a:prstGeom prst="ellipse">
            <a:avLst/>
          </a:prstGeom>
          <a:solidFill>
            <a:srgbClr val="0B74DE"/>
          </a:solidFill>
          <a:ln w="10160">
            <a:solidFill>
              <a:srgbClr val="0B74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833104" y="3878519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180576" y="3813048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logcat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9180576" y="3968496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로그 수집</a:t>
            </a:r>
            <a:endParaRPr lang="en-US" sz="710" dirty="0"/>
          </a:p>
        </p:txBody>
      </p:sp>
      <p:sp>
        <p:nvSpPr>
          <p:cNvPr id="70" name="Shape 68"/>
          <p:cNvSpPr/>
          <p:nvPr/>
        </p:nvSpPr>
        <p:spPr>
          <a:xfrm>
            <a:off x="8540496" y="3803904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BFDFF"/>
          </a:solidFill>
          <a:ln w="11430">
            <a:solidFill>
              <a:srgbClr val="F59E0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05088" y="3968496"/>
            <a:ext cx="420624" cy="420624"/>
          </a:xfrm>
          <a:prstGeom prst="ellipse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705088" y="4061033"/>
            <a:ext cx="420624" cy="15983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217152" y="4041648"/>
            <a:ext cx="1965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240" dirty="0"/>
          </a:p>
        </p:txBody>
      </p:sp>
      <p:sp>
        <p:nvSpPr>
          <p:cNvPr id="74" name="Shape 72"/>
          <p:cNvSpPr/>
          <p:nvPr/>
        </p:nvSpPr>
        <p:spPr>
          <a:xfrm>
            <a:off x="8741664" y="4517136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F59E0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33104" y="4599432"/>
            <a:ext cx="256032" cy="256032"/>
          </a:xfrm>
          <a:prstGeom prst="ellipse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833104" y="4655759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9180576" y="4590288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permissions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9180576" y="4745736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목록 및 위험도</a:t>
            </a:r>
            <a:endParaRPr lang="en-US" sz="710" dirty="0"/>
          </a:p>
        </p:txBody>
      </p:sp>
      <p:sp>
        <p:nvSpPr>
          <p:cNvPr id="79" name="Shape 77"/>
          <p:cNvSpPr/>
          <p:nvPr/>
        </p:nvSpPr>
        <p:spPr>
          <a:xfrm>
            <a:off x="8741664" y="5001768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F59E0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833104" y="5084064"/>
            <a:ext cx="256032" cy="256032"/>
          </a:xfrm>
          <a:prstGeom prst="ellipse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833104" y="5140391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9180576" y="5074920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protected broadcasts</a:t>
            </a:r>
            <a:endParaRPr lang="en-US" sz="840" dirty="0"/>
          </a:p>
        </p:txBody>
      </p:sp>
      <p:sp>
        <p:nvSpPr>
          <p:cNvPr id="83" name="Text 81"/>
          <p:cNvSpPr/>
          <p:nvPr/>
        </p:nvSpPr>
        <p:spPr>
          <a:xfrm>
            <a:off x="9180576" y="5230368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보호된 브로드캐스트 목록</a:t>
            </a:r>
            <a:endParaRPr lang="en-US" sz="710" dirty="0"/>
          </a:p>
        </p:txBody>
      </p:sp>
      <p:sp>
        <p:nvSpPr>
          <p:cNvPr id="84" name="Shape 82"/>
          <p:cNvSpPr/>
          <p:nvPr/>
        </p:nvSpPr>
        <p:spPr>
          <a:xfrm>
            <a:off x="8741664" y="5486400"/>
            <a:ext cx="23865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255">
            <a:solidFill>
              <a:srgbClr val="F59E0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33104" y="5568696"/>
            <a:ext cx="256032" cy="256032"/>
          </a:xfrm>
          <a:prstGeom prst="ellipse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33104" y="5625023"/>
            <a:ext cx="256032" cy="9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180576" y="5559552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policy</a:t>
            </a:r>
            <a:endParaRPr lang="en-US" sz="840" dirty="0"/>
          </a:p>
        </p:txBody>
      </p:sp>
      <p:sp>
        <p:nvSpPr>
          <p:cNvPr id="88" name="Text 86"/>
          <p:cNvSpPr/>
          <p:nvPr/>
        </p:nvSpPr>
        <p:spPr>
          <a:xfrm>
            <a:off x="9180576" y="5715000"/>
            <a:ext cx="185623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보안 정책 및 기준</a:t>
            </a:r>
            <a:endParaRPr lang="en-US" sz="710" dirty="0"/>
          </a:p>
        </p:txBody>
      </p:sp>
      <p:sp>
        <p:nvSpPr>
          <p:cNvPr id="89" name="Shape 87"/>
          <p:cNvSpPr/>
          <p:nvPr/>
        </p:nvSpPr>
        <p:spPr>
          <a:xfrm>
            <a:off x="4462272" y="2139696"/>
            <a:ext cx="2788920" cy="22402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4D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559552" y="2395728"/>
            <a:ext cx="512064" cy="512064"/>
          </a:xfrm>
          <a:prstGeom prst="ellipse">
            <a:avLst/>
          </a:prstGeom>
          <a:solidFill>
            <a:srgbClr val="0B74DE"/>
          </a:solidFill>
          <a:ln w="10160">
            <a:solidFill>
              <a:srgbClr val="0B74D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59552" y="2508382"/>
            <a:ext cx="512064" cy="194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4864608" y="2980944"/>
            <a:ext cx="19659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Audit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4956048" y="3520440"/>
            <a:ext cx="1783080" cy="155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7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Orchestrate · Control · Correlate</a:t>
            </a:r>
            <a:endParaRPr lang="en-US" sz="860" dirty="0"/>
          </a:p>
        </p:txBody>
      </p:sp>
      <p:sp>
        <p:nvSpPr>
          <p:cNvPr id="94" name="Text 92"/>
          <p:cNvSpPr/>
          <p:nvPr/>
        </p:nvSpPr>
        <p:spPr>
          <a:xfrm>
            <a:off x="4754880" y="3922776"/>
            <a:ext cx="566928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관리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5440680" y="3922776"/>
            <a:ext cx="566928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분석</a:t>
            </a:r>
            <a:endParaRPr lang="en-US" sz="680" dirty="0"/>
          </a:p>
        </p:txBody>
      </p:sp>
      <p:sp>
        <p:nvSpPr>
          <p:cNvPr id="96" name="Text 94"/>
          <p:cNvSpPr/>
          <p:nvPr/>
        </p:nvSpPr>
        <p:spPr>
          <a:xfrm>
            <a:off x="6126480" y="3922776"/>
            <a:ext cx="566928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기반</a:t>
            </a:r>
            <a:endParaRPr lang="en-US" sz="680" dirty="0"/>
          </a:p>
        </p:txBody>
      </p:sp>
      <p:sp>
        <p:nvSpPr>
          <p:cNvPr id="97" name="Shape 95"/>
          <p:cNvSpPr/>
          <p:nvPr/>
        </p:nvSpPr>
        <p:spPr>
          <a:xfrm>
            <a:off x="3566160" y="2359152"/>
            <a:ext cx="914400" cy="41148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66160" y="4242816"/>
            <a:ext cx="914400" cy="-502920"/>
          </a:xfrm>
          <a:prstGeom prst="line">
            <a:avLst/>
          </a:prstGeom>
          <a:noFill/>
          <a:ln w="16510">
            <a:solidFill>
              <a:srgbClr val="7E57C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42048" y="2359152"/>
            <a:ext cx="1307592" cy="-384048"/>
          </a:xfrm>
          <a:prstGeom prst="line">
            <a:avLst/>
          </a:prstGeom>
          <a:noFill/>
          <a:ln w="16510">
            <a:solidFill>
              <a:srgbClr val="0B74D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242048" y="3730752"/>
            <a:ext cx="1307592" cy="64008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2960" y="5449824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87552" y="5596128"/>
            <a:ext cx="384048" cy="384048"/>
          </a:xfrm>
          <a:prstGeom prst="ellipse">
            <a:avLst/>
          </a:prstGeom>
          <a:solidFill>
            <a:srgbClr val="16A34A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87552" y="5680619"/>
            <a:ext cx="384048" cy="14593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481328" y="5605272"/>
            <a:ext cx="20482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structured facts</a:t>
            </a:r>
            <a:endParaRPr lang="en-US" sz="920" dirty="0"/>
          </a:p>
        </p:txBody>
      </p:sp>
      <p:sp>
        <p:nvSpPr>
          <p:cNvPr id="105" name="Text 103"/>
          <p:cNvSpPr/>
          <p:nvPr/>
        </p:nvSpPr>
        <p:spPr>
          <a:xfrm>
            <a:off x="1481328" y="5833872"/>
            <a:ext cx="204825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정보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· 리소스 · 권한 · 설정</a:t>
            </a:r>
            <a:endParaRPr lang="en-US" sz="720" dirty="0"/>
          </a:p>
        </p:txBody>
      </p:sp>
      <p:sp>
        <p:nvSpPr>
          <p:cNvPr id="106" name="Shape 104"/>
          <p:cNvSpPr/>
          <p:nvPr/>
        </p:nvSpPr>
        <p:spPr>
          <a:xfrm>
            <a:off x="4480560" y="5449824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0B74D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645152" y="5596128"/>
            <a:ext cx="384048" cy="384048"/>
          </a:xfrm>
          <a:prstGeom prst="ellipse">
            <a:avLst/>
          </a:prstGeom>
          <a:solidFill>
            <a:srgbClr val="0B74DE"/>
          </a:solidFill>
          <a:ln w="10160">
            <a:solidFill>
              <a:srgbClr val="0B74D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645152" y="5680619"/>
            <a:ext cx="384048" cy="14593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5138928" y="5605272"/>
            <a:ext cx="20482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7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evidence</a:t>
            </a:r>
            <a:endParaRPr lang="en-US" sz="920" dirty="0"/>
          </a:p>
        </p:txBody>
      </p:sp>
      <p:sp>
        <p:nvSpPr>
          <p:cNvPr id="110" name="Text 108"/>
          <p:cNvSpPr/>
          <p:nvPr/>
        </p:nvSpPr>
        <p:spPr>
          <a:xfrm>
            <a:off x="5138928" y="5833872"/>
            <a:ext cx="204825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증거 수집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호출 · IPC · Intent · 로그</a:t>
            </a:r>
            <a:endParaRPr lang="en-US" sz="720" dirty="0"/>
          </a:p>
        </p:txBody>
      </p:sp>
      <p:sp>
        <p:nvSpPr>
          <p:cNvPr id="111" name="Shape 109"/>
          <p:cNvSpPr/>
          <p:nvPr/>
        </p:nvSpPr>
        <p:spPr>
          <a:xfrm>
            <a:off x="8138160" y="5449824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F59E0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302752" y="5596128"/>
            <a:ext cx="384048" cy="384048"/>
          </a:xfrm>
          <a:prstGeom prst="ellipse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302752" y="5680619"/>
            <a:ext cx="384048" cy="14593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8796528" y="5605272"/>
            <a:ext cx="20482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 findings</a:t>
            </a:r>
            <a:endParaRPr lang="en-US" sz="920" dirty="0"/>
          </a:p>
        </p:txBody>
      </p:sp>
      <p:sp>
        <p:nvSpPr>
          <p:cNvPr id="115" name="Text 113"/>
          <p:cNvSpPr/>
          <p:nvPr/>
        </p:nvSpPr>
        <p:spPr>
          <a:xfrm>
            <a:off x="8796528" y="5833872"/>
            <a:ext cx="204825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이슈 도출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정책/권한/동작 기반 매칭</a:t>
            </a:r>
            <a:endParaRPr lang="en-US" sz="720" dirty="0"/>
          </a:p>
        </p:txBody>
      </p:sp>
      <p:sp>
        <p:nvSpPr>
          <p:cNvPr id="116" name="Text 114"/>
          <p:cNvSpPr/>
          <p:nvPr/>
        </p:nvSpPr>
        <p:spPr>
          <a:xfrm>
            <a:off x="3813048" y="5669280"/>
            <a:ext cx="3291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17" name="Text 115"/>
          <p:cNvSpPr/>
          <p:nvPr/>
        </p:nvSpPr>
        <p:spPr>
          <a:xfrm>
            <a:off x="7470648" y="5669280"/>
            <a:ext cx="3291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7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18" name="Shape 116"/>
          <p:cNvSpPr/>
          <p:nvPr/>
        </p:nvSpPr>
        <p:spPr>
          <a:xfrm>
            <a:off x="5852160" y="4389120"/>
            <a:ext cx="0" cy="786384"/>
          </a:xfrm>
          <a:prstGeom prst="line">
            <a:avLst/>
          </a:prstGeom>
          <a:noFill/>
          <a:ln w="15240">
            <a:solidFill>
              <a:srgbClr val="0B74D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751576" y="4828032"/>
            <a:ext cx="20116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20" name="Shape 118"/>
          <p:cNvSpPr/>
          <p:nvPr/>
        </p:nvSpPr>
        <p:spPr>
          <a:xfrm>
            <a:off x="2697480" y="6291072"/>
            <a:ext cx="67848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730752" y="6336792"/>
            <a:ext cx="274320" cy="274320"/>
          </a:xfrm>
          <a:prstGeom prst="ellipse">
            <a:avLst/>
          </a:prstGeom>
          <a:solidFill>
            <a:srgbClr val="0B74DE"/>
          </a:solidFill>
          <a:ln w="10160">
            <a:solidFill>
              <a:srgbClr val="0B74D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730752" y="6397142"/>
            <a:ext cx="274320" cy="10424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4096512" y="6364224"/>
            <a:ext cx="45262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역할에 맞게 제한, Harness가 일관되게 관리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관련연구 및 벤치마킹 조사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조사 및 벤치마킹 검토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자료는 일부 요소만 차용 가능하며, 본 과제 평가 기준으로는 직접 사용하기 어려움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536192"/>
            <a:ext cx="1234440" cy="384048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609344"/>
            <a:ext cx="116128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대상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1984248" y="1536192"/>
            <a:ext cx="2148840" cy="384048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0824" y="1609344"/>
            <a:ext cx="207568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 설명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133088" y="1536192"/>
            <a:ext cx="1188720" cy="384048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1609344"/>
            <a:ext cx="111556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적합성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321808" y="1536192"/>
            <a:ext cx="3703320" cy="384048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1609344"/>
            <a:ext cx="363016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9025128" y="1536192"/>
            <a:ext cx="2240280" cy="384048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1704" y="1609344"/>
            <a:ext cx="216712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차용 포인트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749808" y="1920240"/>
            <a:ext cx="123444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1984248"/>
            <a:ext cx="112471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COVA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1984248" y="1920240"/>
            <a:ext cx="214884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9112" y="1984248"/>
            <a:ext cx="203911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taint-analysis 경로 조건을 계산/검증하는 연구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133088" y="1920240"/>
            <a:ext cx="118872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7952" y="1984248"/>
            <a:ext cx="107899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사용 어려움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5321808" y="1920240"/>
            <a:ext cx="370332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1984248"/>
            <a:ext cx="359359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 constraint 계산/검증용 micro-benchmark로 단말 조작 -&gt; 취약점 트리거 -&gt; evidence/oracle 판정 목적과 다름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025128" y="1920240"/>
            <a:ext cx="224028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9992" y="1984248"/>
            <a:ext cx="213055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분석 단계의 조건 추출 아이디어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49808" y="2679192"/>
            <a:ext cx="1234440" cy="7589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2743200"/>
            <a:ext cx="112471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AndroidWorld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1984248" y="2679192"/>
            <a:ext cx="2148840" cy="7589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39112" y="2743200"/>
            <a:ext cx="203911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Android emulator에서 앱 task를 수행하는 모바일 GUI agent benchmark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133088" y="2679192"/>
            <a:ext cx="1188720" cy="7589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87952" y="2743200"/>
            <a:ext cx="107899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사용 가능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5321808" y="2679192"/>
            <a:ext cx="3703320" cy="7589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2743200"/>
            <a:ext cx="359359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GUI agent benchmark이나 보안 취약점, root 조건, system UID, exploit oracle 부재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9025128" y="2679192"/>
            <a:ext cx="2240280" cy="7589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79992" y="2743200"/>
            <a:ext cx="213055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 AI의 UI 조작 능력 평가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749808" y="3438144"/>
            <a:ext cx="123444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3502152"/>
            <a:ext cx="112471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Ghera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1984248" y="3438144"/>
            <a:ext cx="214884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39112" y="3502152"/>
            <a:ext cx="203911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 앱, 공격 앱, 수정 앱을 묶은 Android 취약점 benchmark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133088" y="3438144"/>
            <a:ext cx="118872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87952" y="3502152"/>
            <a:ext cx="107899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사용 가능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5321808" y="3438144"/>
            <a:ext cx="370332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6672" y="3502152"/>
            <a:ext cx="359359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취약/정상/공격 앱 구성이 있으나 2017년대의 작고 lean한 예제 중심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9025128" y="3438144"/>
            <a:ext cx="224028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79992" y="3502152"/>
            <a:ext cx="213055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취약/정상/공격 앱 seed corpus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749808" y="4197096"/>
            <a:ext cx="1234440" cy="7589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" y="4261104"/>
            <a:ext cx="112471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DroidBench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1984248" y="4197096"/>
            <a:ext cx="2148840" cy="7589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39112" y="4261104"/>
            <a:ext cx="203911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정보흐름 분석 도구의 정확도 평가용 micro-benchmark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133088" y="4197096"/>
            <a:ext cx="1188720" cy="7589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87952" y="4261104"/>
            <a:ext cx="107899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사용 가능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5321808" y="4197096"/>
            <a:ext cx="3703320" cy="7589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76672" y="4261104"/>
            <a:ext cx="359359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흐름 검출 중심이며 실제 APK의 component/provider/webview/storage 조합형 검증에는 약함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9025128" y="4197096"/>
            <a:ext cx="2240280" cy="7589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79992" y="4261104"/>
            <a:ext cx="213055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data-flow ground truth 비교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749808" y="4956048"/>
            <a:ext cx="123444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4672" y="5020056"/>
            <a:ext cx="112471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MobSF</a:t>
            </a:r>
            <a:endParaRPr lang="en-US" sz="770" dirty="0"/>
          </a:p>
        </p:txBody>
      </p:sp>
      <p:sp>
        <p:nvSpPr>
          <p:cNvPr id="60" name="Shape 58"/>
          <p:cNvSpPr/>
          <p:nvPr/>
        </p:nvSpPr>
        <p:spPr>
          <a:xfrm>
            <a:off x="1984248" y="4956048"/>
            <a:ext cx="214884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39112" y="5020056"/>
            <a:ext cx="203911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 정적/동적 보안 분석 자동화 framework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4133088" y="4956048"/>
            <a:ext cx="118872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87952" y="5020056"/>
            <a:ext cx="107899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벤치마크 아님</a:t>
            </a:r>
            <a:endParaRPr lang="en-US" sz="730" dirty="0"/>
          </a:p>
        </p:txBody>
      </p:sp>
      <p:sp>
        <p:nvSpPr>
          <p:cNvPr id="64" name="Shape 62"/>
          <p:cNvSpPr/>
          <p:nvPr/>
        </p:nvSpPr>
        <p:spPr>
          <a:xfrm>
            <a:off x="5321808" y="4956048"/>
            <a:ext cx="370332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76672" y="5020056"/>
            <a:ext cx="359359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app automated security assessment framework이나 AI 분석 기능 및 본 과제용 exploit oracle 제공 없음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9025128" y="4956048"/>
            <a:ext cx="2240280" cy="758952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79992" y="5020056"/>
            <a:ext cx="2130552" cy="630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정적/동적 분석 수집 baseline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1005840" y="5833872"/>
            <a:ext cx="10104120" cy="438912"/>
          </a:xfrm>
          <a:prstGeom prst="roundRect">
            <a:avLst>
              <a:gd name="adj" fmla="val 12500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52144" y="5971032"/>
            <a:ext cx="91440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결론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2011680" y="5971032"/>
            <a:ext cx="882396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조작 -&gt; 취약점 트리거 -&gt; evidence/oracle 판정까지 평가하려면 별도 보안 검증 벤치마크와 실제 앱 기반 E2E 케이스 구성이 필요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추진 사항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방식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분석 틀을 먼저 고정하고 AI는 후보 생성과 검증 조정에 제한적으로 활용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175504" cy="4526280"/>
          </a:xfrm>
          <a:prstGeom prst="roundRect">
            <a:avLst>
              <a:gd name="adj" fmla="val 1212"/>
            </a:avLst>
          </a:prstGeom>
          <a:solidFill>
            <a:srgbClr val="FFF7F7"/>
          </a:solidFill>
          <a:ln w="1143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764792"/>
            <a:ext cx="48006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search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0120" y="2304288"/>
            <a:ext cx="4572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1872" y="2414016"/>
            <a:ext cx="310896" cy="310896"/>
          </a:xfrm>
          <a:prstGeom prst="ellipse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2482413"/>
            <a:ext cx="310896" cy="1181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2468880"/>
            <a:ext cx="265176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분석에서 문제 탐색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63824" y="2852928"/>
            <a:ext cx="182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3072384"/>
            <a:ext cx="4572000" cy="530352"/>
          </a:xfrm>
          <a:prstGeom prst="roundRect">
            <a:avLst>
              <a:gd name="adj" fmla="val 10345"/>
            </a:avLst>
          </a:prstGeom>
          <a:solidFill>
            <a:srgbClr val="FAFAFF"/>
          </a:solidFill>
          <a:ln w="9525">
            <a:solidFill>
              <a:srgbClr val="B8B2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61872" y="3182112"/>
            <a:ext cx="310896" cy="310896"/>
          </a:xfrm>
          <a:prstGeom prst="ellipse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3250509"/>
            <a:ext cx="310896" cy="1181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3209544"/>
            <a:ext cx="265176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임의로 keyword 선택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8880" y="3401568"/>
            <a:ext cx="1554480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(경험/추측 기반)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14400" y="4114800"/>
            <a:ext cx="1261872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2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224528"/>
            <a:ext cx="1115568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 검색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기반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423160" y="4114800"/>
            <a:ext cx="1261872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2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4224528"/>
            <a:ext cx="1115568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jadx 분석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역컴파일 탐색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3931920" y="4114800"/>
            <a:ext cx="1261872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2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5072" y="4224528"/>
            <a:ext cx="1115568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Manifest 분석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확인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914400" y="5120640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255">
            <a:solidFill>
              <a:srgbClr val="B8B2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5230368"/>
            <a:ext cx="768096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단서 A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2057400" y="5120640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255">
            <a:solidFill>
              <a:srgbClr val="B8B2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" y="5230368"/>
            <a:ext cx="768096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단서 B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200400" y="5120640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255">
            <a:solidFill>
              <a:srgbClr val="B8B2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5230368"/>
            <a:ext cx="768096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단서 C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343400" y="5120640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255">
            <a:solidFill>
              <a:srgbClr val="B8B2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7408" y="5230368"/>
            <a:ext cx="768096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...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96112" y="5596128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5715000"/>
            <a:ext cx="425196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 토큰 사용량 증가  /  누락 가능성 높음  /  결과 일관성 낮음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3246120" y="3611880"/>
            <a:ext cx="-1828800" cy="457200"/>
          </a:xfrm>
          <a:prstGeom prst="line">
            <a:avLst/>
          </a:prstGeom>
          <a:noFill/>
          <a:ln w="8890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3611880"/>
            <a:ext cx="0" cy="457200"/>
          </a:xfrm>
          <a:prstGeom prst="line">
            <a:avLst/>
          </a:prstGeom>
          <a:noFill/>
          <a:ln w="8890">
            <a:solidFill>
              <a:srgbClr val="6B72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3611880"/>
            <a:ext cx="1828800" cy="457200"/>
          </a:xfrm>
          <a:prstGeom prst="line">
            <a:avLst/>
          </a:prstGeom>
          <a:noFill/>
          <a:ln w="8890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36192" y="4645152"/>
            <a:ext cx="0" cy="420624"/>
          </a:xfrm>
          <a:prstGeom prst="line">
            <a:avLst/>
          </a:prstGeom>
          <a:noFill/>
          <a:ln w="8890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54096" y="4645152"/>
            <a:ext cx="0" cy="420624"/>
          </a:xfrm>
          <a:prstGeom prst="line">
            <a:avLst/>
          </a:prstGeom>
          <a:noFill/>
          <a:ln w="8890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53712" y="4645152"/>
            <a:ext cx="0" cy="420624"/>
          </a:xfrm>
          <a:prstGeom prst="line">
            <a:avLst/>
          </a:prstGeom>
          <a:noFill/>
          <a:ln w="889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63056" y="1572768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F6FEFA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1764792"/>
            <a:ext cx="49834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deterministic + AI</a:t>
            </a:r>
            <a:endParaRPr lang="en-US" sz="1750" dirty="0"/>
          </a:p>
        </p:txBody>
      </p:sp>
      <p:sp>
        <p:nvSpPr>
          <p:cNvPr id="44" name="Shape 42"/>
          <p:cNvSpPr/>
          <p:nvPr/>
        </p:nvSpPr>
        <p:spPr>
          <a:xfrm>
            <a:off x="6437376" y="2304288"/>
            <a:ext cx="4846320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DEB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9712" y="2514600"/>
            <a:ext cx="39319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7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1단계: Deterministic Block  (결정적 파이프라인)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656832" y="2889504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B74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03136" y="3026664"/>
            <a:ext cx="329184" cy="329184"/>
          </a:xfrm>
          <a:prstGeom prst="ellipse">
            <a:avLst/>
          </a:prstGeom>
          <a:solidFill>
            <a:srgbClr val="0B74DE"/>
          </a:solidFill>
          <a:ln w="10160">
            <a:solidFill>
              <a:srgbClr val="0B74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03136" y="3099084"/>
            <a:ext cx="329184" cy="12509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23760" y="3044952"/>
            <a:ext cx="367588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manifest_extract</a:t>
            </a:r>
            <a:endParaRPr lang="en-US" sz="970" dirty="0"/>
          </a:p>
        </p:txBody>
      </p:sp>
      <p:sp>
        <p:nvSpPr>
          <p:cNvPr id="50" name="Text 48"/>
          <p:cNvSpPr/>
          <p:nvPr/>
        </p:nvSpPr>
        <p:spPr>
          <a:xfrm>
            <a:off x="7223760" y="3282696"/>
            <a:ext cx="367588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AndroidManifest.xml 파싱 / 컴포넌트, 권한, Intent-Filter 추출</a:t>
            </a:r>
            <a:endParaRPr lang="en-US" sz="730" dirty="0"/>
          </a:p>
        </p:txBody>
      </p:sp>
      <p:sp>
        <p:nvSpPr>
          <p:cNvPr id="51" name="Text 49"/>
          <p:cNvSpPr/>
          <p:nvPr/>
        </p:nvSpPr>
        <p:spPr>
          <a:xfrm>
            <a:off x="8732520" y="3337560"/>
            <a:ext cx="1828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656832" y="3511296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F9F8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03136" y="3648456"/>
            <a:ext cx="329184" cy="329184"/>
          </a:xfrm>
          <a:prstGeom prst="ellipse">
            <a:avLst/>
          </a:prstGeom>
          <a:solidFill>
            <a:srgbClr val="0F9F8D"/>
          </a:solidFill>
          <a:ln w="10160">
            <a:solidFill>
              <a:srgbClr val="0F9F8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03136" y="3720876"/>
            <a:ext cx="329184" cy="12509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23760" y="3666744"/>
            <a:ext cx="367588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aapt cross-check</a:t>
            </a:r>
            <a:endParaRPr lang="en-US" sz="970" dirty="0"/>
          </a:p>
        </p:txBody>
      </p:sp>
      <p:sp>
        <p:nvSpPr>
          <p:cNvPr id="56" name="Text 54"/>
          <p:cNvSpPr/>
          <p:nvPr/>
        </p:nvSpPr>
        <p:spPr>
          <a:xfrm>
            <a:off x="7223760" y="3904488"/>
            <a:ext cx="367588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aapt dump badging 분석 / 패키지·권한·컴포넌트 교차 검증</a:t>
            </a:r>
            <a:endParaRPr lang="en-US" sz="730" dirty="0"/>
          </a:p>
        </p:txBody>
      </p:sp>
      <p:sp>
        <p:nvSpPr>
          <p:cNvPr id="57" name="Text 55"/>
          <p:cNvSpPr/>
          <p:nvPr/>
        </p:nvSpPr>
        <p:spPr>
          <a:xfrm>
            <a:off x="8732520" y="3968496"/>
            <a:ext cx="1828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656832" y="4133088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03136" y="4270248"/>
            <a:ext cx="329184" cy="329184"/>
          </a:xfrm>
          <a:prstGeom prst="ellipse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03136" y="4342668"/>
            <a:ext cx="329184" cy="12509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223760" y="4288536"/>
            <a:ext cx="367588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jadx evidence index</a:t>
            </a:r>
            <a:endParaRPr lang="en-US" sz="970" dirty="0"/>
          </a:p>
        </p:txBody>
      </p:sp>
      <p:sp>
        <p:nvSpPr>
          <p:cNvPr id="62" name="Text 60"/>
          <p:cNvSpPr/>
          <p:nvPr/>
        </p:nvSpPr>
        <p:spPr>
          <a:xfrm>
            <a:off x="7223760" y="4526280"/>
            <a:ext cx="367588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분석 및 증거 인덱싱 / 위험 API, Sink, 권한 사용 추출</a:t>
            </a:r>
            <a:endParaRPr lang="en-US" sz="730" dirty="0"/>
          </a:p>
        </p:txBody>
      </p:sp>
      <p:sp>
        <p:nvSpPr>
          <p:cNvPr id="63" name="Text 61"/>
          <p:cNvSpPr/>
          <p:nvPr/>
        </p:nvSpPr>
        <p:spPr>
          <a:xfrm>
            <a:off x="8732520" y="4590288"/>
            <a:ext cx="1828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656832" y="4754880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7E57C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03136" y="4892040"/>
            <a:ext cx="329184" cy="329184"/>
          </a:xfrm>
          <a:prstGeom prst="ellipse">
            <a:avLst/>
          </a:prstGeom>
          <a:solidFill>
            <a:srgbClr val="7E57C2"/>
          </a:solidFill>
          <a:ln w="10160">
            <a:solidFill>
              <a:srgbClr val="7E57C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03136" y="4964460"/>
            <a:ext cx="329184" cy="12509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223760" y="4910328"/>
            <a:ext cx="367588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(구조화 데이터)</a:t>
            </a:r>
            <a:endParaRPr lang="en-US" sz="970" dirty="0"/>
          </a:p>
        </p:txBody>
      </p:sp>
      <p:sp>
        <p:nvSpPr>
          <p:cNvPr id="68" name="Text 66"/>
          <p:cNvSpPr/>
          <p:nvPr/>
        </p:nvSpPr>
        <p:spPr>
          <a:xfrm>
            <a:off x="7223760" y="5148072"/>
            <a:ext cx="367588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component-facts.json / source-evidence.json</a:t>
            </a:r>
            <a:endParaRPr lang="en-US" sz="730" dirty="0"/>
          </a:p>
        </p:txBody>
      </p:sp>
      <p:sp>
        <p:nvSpPr>
          <p:cNvPr id="69" name="Text 67"/>
          <p:cNvSpPr/>
          <p:nvPr/>
        </p:nvSpPr>
        <p:spPr>
          <a:xfrm>
            <a:off x="8732520" y="5248656"/>
            <a:ext cx="182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437376" y="5431536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39712" y="5605272"/>
            <a:ext cx="37947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2단계: AI Judgment  (AI 판단)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6766560" y="5925312"/>
            <a:ext cx="3035808" cy="438912"/>
          </a:xfrm>
          <a:prstGeom prst="roundRect">
            <a:avLst>
              <a:gd name="adj" fmla="val 12500"/>
            </a:avLst>
          </a:prstGeom>
          <a:solidFill>
            <a:srgbClr val="F7FFFB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49440" y="5989320"/>
            <a:ext cx="310896" cy="310896"/>
          </a:xfrm>
          <a:prstGeom prst="ellipse">
            <a:avLst/>
          </a:prstGeom>
          <a:solidFill>
            <a:srgbClr val="15803D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49440" y="6057717"/>
            <a:ext cx="310896" cy="1181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333488" y="6035040"/>
            <a:ext cx="20574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구조화된 증거를 바탕으로 판단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7315200" y="6199632"/>
            <a:ext cx="2267712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위험도 분류   ✓ 근거 기반 설명   ✓ 일관된 결과 출력</a:t>
            </a:r>
            <a:endParaRPr lang="en-US" sz="660" dirty="0"/>
          </a:p>
        </p:txBody>
      </p:sp>
      <p:sp>
        <p:nvSpPr>
          <p:cNvPr id="77" name="Shape 75"/>
          <p:cNvSpPr/>
          <p:nvPr/>
        </p:nvSpPr>
        <p:spPr>
          <a:xfrm>
            <a:off x="10012680" y="5925312"/>
            <a:ext cx="1005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EBF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131552" y="6035040"/>
            <a:ext cx="768096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evidence-backed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1874520" y="6291072"/>
            <a:ext cx="8412480" cy="310896"/>
          </a:xfrm>
          <a:prstGeom prst="roundRect">
            <a:avLst>
              <a:gd name="adj" fmla="val 17647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020824" y="6400800"/>
            <a:ext cx="811987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기준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020824" y="6729984"/>
            <a:ext cx="8119872" cy="-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임의 탐색을 맡기기 전에 결정적 분석 틀과 구조화된 evidence를 먼저 제공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추진 사항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스크린샷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선택, 분석 단계 진행, findings 확인, 보고서 검토까지의 end-to-end 화면 예시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534924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73352"/>
            <a:ext cx="509320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대상 패키지 선택</a:t>
            </a:r>
            <a:endParaRPr lang="en-US" sz="92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56816"/>
            <a:ext cx="5093208" cy="1426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3465576"/>
            <a:ext cx="509320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job queue에서 대상 APK와 우선 검토 대상을 선택</a:t>
            </a:r>
            <a:endParaRPr lang="en-US" sz="690" dirty="0"/>
          </a:p>
        </p:txBody>
      </p:sp>
      <p:sp>
        <p:nvSpPr>
          <p:cNvPr id="12" name="Shape 9"/>
          <p:cNvSpPr/>
          <p:nvPr/>
        </p:nvSpPr>
        <p:spPr>
          <a:xfrm>
            <a:off x="6144768" y="1572768"/>
            <a:ext cx="534924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1673352"/>
            <a:ext cx="509320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분석 구동 상태 확인</a:t>
            </a:r>
            <a:endParaRPr lang="en-US" sz="92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956816"/>
            <a:ext cx="5093208" cy="1426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72784" y="3465576"/>
            <a:ext cx="509320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ingest, decompile, manifest, semgrep 등 stage 진행 상태 확인</a:t>
            </a:r>
            <a:endParaRPr lang="en-US" sz="690" dirty="0"/>
          </a:p>
        </p:txBody>
      </p:sp>
      <p:sp>
        <p:nvSpPr>
          <p:cNvPr id="16" name="Shape 12"/>
          <p:cNvSpPr/>
          <p:nvPr/>
        </p:nvSpPr>
        <p:spPr>
          <a:xfrm>
            <a:off x="713232" y="3968496"/>
            <a:ext cx="534924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41248" y="4069080"/>
            <a:ext cx="509320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Findings 상세 검토</a:t>
            </a:r>
            <a:endParaRPr lang="en-US" sz="92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352544"/>
            <a:ext cx="5093208" cy="1426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" y="5861304"/>
            <a:ext cx="509320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severity, evidence, location, LLM analysis 및 stored output 확인</a:t>
            </a:r>
            <a:endParaRPr lang="en-US" sz="690" dirty="0"/>
          </a:p>
        </p:txBody>
      </p:sp>
      <p:sp>
        <p:nvSpPr>
          <p:cNvPr id="20" name="Shape 15"/>
          <p:cNvSpPr/>
          <p:nvPr/>
        </p:nvSpPr>
        <p:spPr>
          <a:xfrm>
            <a:off x="6144768" y="3968496"/>
            <a:ext cx="534924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272784" y="4069080"/>
            <a:ext cx="509320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분석 완료 보고서</a:t>
            </a:r>
            <a:endParaRPr lang="en-US" sz="92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4352544"/>
            <a:ext cx="5093208" cy="1426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72784" y="5861304"/>
            <a:ext cx="5093208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summary, validation, metadata, permissions, report artifact 확인</a:t>
            </a:r>
            <a:endParaRPr lang="en-US" sz="6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자동화와 단말 검증을 결합하여 finding 신뢰도와 운영 재현성 개선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1463040" cy="594360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00784"/>
            <a:ext cx="1371600" cy="5212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94560" y="1664208"/>
            <a:ext cx="5577840" cy="594360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700784"/>
            <a:ext cx="5486400" cy="5212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0" y="1664208"/>
            <a:ext cx="3703320" cy="594360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1700784"/>
            <a:ext cx="3611880" cy="5212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기준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2258568"/>
            <a:ext cx="146304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304288"/>
            <a:ext cx="131673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2194560" y="2258568"/>
            <a:ext cx="557784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2304288"/>
            <a:ext cx="543153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검출 후보와 반복 증거 수집을 표준 루프로 구성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7772400" y="2258568"/>
            <a:ext cx="370332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2304288"/>
            <a:ext cx="355701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목표 및 observation 생성 여부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31520" y="2852928"/>
            <a:ext cx="146304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898648"/>
            <a:ext cx="131673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2194560" y="2852928"/>
            <a:ext cx="557784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67712" y="2898648"/>
            <a:ext cx="543153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에뮬레이터 또는 테스트 단말 상태 기준으로 결과 보존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7772400" y="2852928"/>
            <a:ext cx="370332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45552" y="2898648"/>
            <a:ext cx="355701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trace 및 artifact 보존 여부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731520" y="3447288"/>
            <a:ext cx="146304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493008"/>
            <a:ext cx="131673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관리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2194560" y="3447288"/>
            <a:ext cx="557784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67712" y="3493008"/>
            <a:ext cx="543153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조건 부족과 증거 부족을 finding 채택 전 분리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7772400" y="3447288"/>
            <a:ext cx="370332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3493008"/>
            <a:ext cx="355701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Inconclusive 판정 운영 여부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31520" y="4041648"/>
            <a:ext cx="146304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087368"/>
            <a:ext cx="131673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2194560" y="4041648"/>
            <a:ext cx="557784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67712" y="4087368"/>
            <a:ext cx="543153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rule hit가 아닌 chain, precondition, observation 동시 판단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7772400" y="4041648"/>
            <a:ext cx="370332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45552" y="4087368"/>
            <a:ext cx="355701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시나리오 추가 가능성</a:t>
            </a:r>
            <a:endParaRPr lang="en-US" sz="9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 개요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분리, Harness AI 학습·벤치마크, 평가 metric 기반 결론 도출로 다음 단계를 구분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664208"/>
            <a:ext cx="3401568" cy="38587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1901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48256"/>
            <a:ext cx="36576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50976" y="2615184"/>
            <a:ext cx="2999232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AI 구조 -&gt; 역할 분리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950976" y="3182112"/>
            <a:ext cx="2999232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결과를 바로 확정하지 않고 분석, 실행, 판정을 분리한 evidence 기반 검증 흐름으로 전환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969264" y="4005072"/>
            <a:ext cx="2962656" cy="2743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4059936"/>
            <a:ext cx="277977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AI: 검증 목표 정의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969264" y="4398264"/>
            <a:ext cx="2962656" cy="2743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4453128"/>
            <a:ext cx="277977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 AI: 허용 action 실행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969264" y="4791456"/>
            <a:ext cx="2962656" cy="2743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846320"/>
            <a:ext cx="277977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Oracle: evidence 기준 판정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4453128" y="1664208"/>
            <a:ext cx="3401568" cy="3858768"/>
          </a:xfrm>
          <a:prstGeom prst="roundRect">
            <a:avLst>
              <a:gd name="adj" fmla="val 1613"/>
            </a:avLst>
          </a:prstGeom>
          <a:solidFill>
            <a:srgbClr val="EFF6FC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901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048256"/>
            <a:ext cx="36576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54296" y="2615184"/>
            <a:ext cx="2999232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 AI 모델 선정·학습·벤치마크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654296" y="3182112"/>
            <a:ext cx="2999232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저B 모델 후보를 선정하고 Android/ADB 실행 데이터로 학습한 뒤 자체 벤치마크로 운영 가능성 검증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4672584" y="4005072"/>
            <a:ext cx="2962656" cy="2743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4024" y="4059936"/>
            <a:ext cx="277977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모델 선정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4672584" y="4398264"/>
            <a:ext cx="2962656" cy="2743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4453128"/>
            <a:ext cx="277977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사용·복구 패턴 학습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4672584" y="4791456"/>
            <a:ext cx="2962656" cy="2743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4846320"/>
            <a:ext cx="277977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vs Fine-tuned 비교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8156448" y="1664208"/>
            <a:ext cx="3401568" cy="38587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57616" y="1901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2048256"/>
            <a:ext cx="36576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57616" y="2615184"/>
            <a:ext cx="2999232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metric 추출 및 결론 도출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8357616" y="3182112"/>
            <a:ext cx="2999232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성공률, 실패 복구율, 증거 품질, 판정 정확도를 metric으로 추출해 도입 효과와 한계 정리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8375904" y="4005072"/>
            <a:ext cx="2962656" cy="2743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67344" y="4059936"/>
            <a:ext cx="277977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success / recovery rate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8375904" y="4398264"/>
            <a:ext cx="2962656" cy="2743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67344" y="4453128"/>
            <a:ext cx="277977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completeness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8375904" y="4791456"/>
            <a:ext cx="2962656" cy="2743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67344" y="4846320"/>
            <a:ext cx="277977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 감소 및 운영 결론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1005840" y="5833872"/>
            <a:ext cx="9966960" cy="438912"/>
          </a:xfrm>
          <a:prstGeom prst="roundRect">
            <a:avLst>
              <a:gd name="adj" fmla="val 12500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0432" y="5971032"/>
            <a:ext cx="91440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순서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029968" y="5971032"/>
            <a:ext cx="845820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전환 -&gt; 모델/데이터 확보 -&gt; 벤치마크 실행 -&gt; metric 기반 도입 결론 도출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AI 구조의 한계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분석, 실행, 판정의 책임 경계가 다르므로 역할 분리 기반 통제 필요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1325880" cy="585216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28216"/>
            <a:ext cx="123444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48840" y="1691640"/>
            <a:ext cx="4617720" cy="585216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728216"/>
            <a:ext cx="45262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AI 흐름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66560" y="1691640"/>
            <a:ext cx="4617720" cy="585216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728216"/>
            <a:ext cx="45262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분리 흐름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276856"/>
            <a:ext cx="1325880" cy="585216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322576"/>
            <a:ext cx="1179576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설정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2148840" y="2276856"/>
            <a:ext cx="4617720" cy="585216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21992" y="2322576"/>
            <a:ext cx="4471416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분석과 실행 목표가 혼재될 가능성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766560" y="2276856"/>
            <a:ext cx="4617720" cy="585216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2322576"/>
            <a:ext cx="4471416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AI가 검증 목표만 정의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822960" y="2862072"/>
            <a:ext cx="13258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2907792"/>
            <a:ext cx="1179576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통제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2148840" y="2862072"/>
            <a:ext cx="46177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21992" y="2907792"/>
            <a:ext cx="4471416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단말 동작 선택 가능성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766560" y="2862072"/>
            <a:ext cx="46177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2907792"/>
            <a:ext cx="4471416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 AI가 allowlisted action만 선택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822960" y="3447288"/>
            <a:ext cx="1325880" cy="585216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493008"/>
            <a:ext cx="1179576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판단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2148840" y="3447288"/>
            <a:ext cx="4617720" cy="585216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21992" y="3493008"/>
            <a:ext cx="4471416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부족 상태에서도 결론 생성 가능성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766560" y="3447288"/>
            <a:ext cx="4617720" cy="585216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3493008"/>
            <a:ext cx="4471416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Oracle이 evidence 기준으로만 판정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22960" y="4032504"/>
            <a:ext cx="13258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4078224"/>
            <a:ext cx="1179576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추적성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2148840" y="4032504"/>
            <a:ext cx="46177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21992" y="4078224"/>
            <a:ext cx="4471416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원인과 재현 경로 추적 어려움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766560" y="4032504"/>
            <a:ext cx="46177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9712" y="4078224"/>
            <a:ext cx="4471416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Trace, artifact, proof state 보존</a:t>
            </a:r>
            <a:endParaRPr lang="en-US" sz="9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분리 기반 검증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 AI 내부 검증 루프와 Oracle 분기를 분리해 검증 상태를 갱신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709928"/>
            <a:ext cx="130759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2039112"/>
            <a:ext cx="130759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 Graph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/ Manifest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359152" y="1901952"/>
            <a:ext cx="2560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51760" y="1600200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709928"/>
            <a:ext cx="139903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98064" y="2039112"/>
            <a:ext cx="139903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목표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정의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370832" y="1901952"/>
            <a:ext cx="2560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3063240" cy="1426464"/>
          </a:xfrm>
          <a:prstGeom prst="roundRect">
            <a:avLst>
              <a:gd name="adj" fmla="val 3846"/>
            </a:avLst>
          </a:prstGeom>
          <a:solidFill>
            <a:srgbClr val="EFF6FC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417320"/>
            <a:ext cx="26517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 AI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56048" y="1645920"/>
            <a:ext cx="248716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· 관찰 수집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882896" y="1920240"/>
            <a:ext cx="78638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029968"/>
            <a:ext cx="49377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5029200" y="2359152"/>
            <a:ext cx="493776" cy="-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669280" y="2039112"/>
            <a:ext cx="164592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70448" y="1920240"/>
            <a:ext cx="78638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2029968"/>
            <a:ext cx="49377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016752" y="2359152"/>
            <a:ext cx="493776" cy="-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6656832" y="2039112"/>
            <a:ext cx="164592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1920240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04304" y="2029968"/>
            <a:ext cx="36576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7004304" y="2359152"/>
            <a:ext cx="365760" cy="-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5230368" y="2395728"/>
            <a:ext cx="195681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 시 내부 재시도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754112" y="1901952"/>
            <a:ext cx="2560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46720" y="1600200"/>
            <a:ext cx="15087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3024" y="1709928"/>
            <a:ext cx="121615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93024" y="2039112"/>
            <a:ext cx="121615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기준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9921240" y="124358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66960" y="1271016"/>
            <a:ext cx="13258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Confirmed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9921240" y="1636776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66960" y="1664208"/>
            <a:ext cx="13258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Refuted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9921240" y="20299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66960" y="2057400"/>
            <a:ext cx="13258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Inconclusive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9921240" y="242316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EFF6FC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66960" y="2450592"/>
            <a:ext cx="13258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검증 필요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3474720" y="2999232"/>
            <a:ext cx="52120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검증 필요 → Security AI로 재진입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2960" y="3977640"/>
            <a:ext cx="32461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264" y="4087368"/>
            <a:ext cx="295351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경계 명확화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969264" y="4416552"/>
            <a:ext cx="295351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설정, 실행, 판정을 별도 책임으로 분리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462272" y="3977640"/>
            <a:ext cx="32461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08576" y="4087368"/>
            <a:ext cx="295351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권한 통제</a:t>
            </a:r>
            <a:endParaRPr lang="en-US" sz="1040" dirty="0"/>
          </a:p>
        </p:txBody>
      </p:sp>
      <p:sp>
        <p:nvSpPr>
          <p:cNvPr id="49" name="Text 47"/>
          <p:cNvSpPr/>
          <p:nvPr/>
        </p:nvSpPr>
        <p:spPr>
          <a:xfrm>
            <a:off x="4608576" y="4416552"/>
            <a:ext cx="295351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 AI는 allowlisted action 범위에서만 실행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101584" y="3977640"/>
            <a:ext cx="32461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47888" y="4087368"/>
            <a:ext cx="295351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기반 판정</a:t>
            </a:r>
            <a:endParaRPr lang="en-US" sz="1040" dirty="0"/>
          </a:p>
        </p:txBody>
      </p:sp>
      <p:sp>
        <p:nvSpPr>
          <p:cNvPr id="52" name="Text 50"/>
          <p:cNvSpPr/>
          <p:nvPr/>
        </p:nvSpPr>
        <p:spPr>
          <a:xfrm>
            <a:off x="8247888" y="4416552"/>
            <a:ext cx="295351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Oracle은 저장된 evidence와 rule 기준으로만 판정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계획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Qwen3.5 - 9B 기반 Harness AI 특화 학습으로 비용 효율과 운영 유연성 확보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2880360" cy="1225296"/>
          </a:xfrm>
          <a:prstGeom prst="roundRect">
            <a:avLst>
              <a:gd name="adj" fmla="val 4478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682496"/>
            <a:ext cx="258775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모델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3544" y="2011680"/>
            <a:ext cx="2587752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Qwen3.5 - 9B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저B 모델 특화 학습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886200" y="1572768"/>
            <a:ext cx="288036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2504" y="1682496"/>
            <a:ext cx="258775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목적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32504" y="2011680"/>
            <a:ext cx="2587752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비용 절감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유연성 확보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실행 비용 통제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995160" y="1572768"/>
            <a:ext cx="425196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41464" y="1682496"/>
            <a:ext cx="395935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가능성 판단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7141464" y="2011680"/>
            <a:ext cx="3959352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 AI는 고난도 추론보다 typed action 선택, 복구, 관찰, 도구 사용 패턴과 특수 도메인 지식이 중요하므로 학습으로 충족 가능하다고 판단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841248" y="3182112"/>
            <a:ext cx="1417320" cy="438912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218688"/>
            <a:ext cx="13258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58568" y="3182112"/>
            <a:ext cx="3566160" cy="438912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04288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" y="3621024"/>
            <a:ext cx="1417320" cy="43891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66744"/>
            <a:ext cx="12710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선정 기준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2258568" y="3621024"/>
            <a:ext cx="3566160" cy="43891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3666744"/>
            <a:ext cx="34198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9B급 이하 비용 효율, 도구 호출 패턴 학습 적합성, Android/ADB 도메인 적응성, 운영 배포 용이성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41248" y="4059936"/>
            <a:ext cx="14173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105656"/>
            <a:ext cx="12710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2258568" y="4059936"/>
            <a:ext cx="3566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4105656"/>
            <a:ext cx="34198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허용된 typed action 선택, 실패 복구, 상태 관찰, 증거 수집, 과장 없는 판정 지원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41248" y="4498848"/>
            <a:ext cx="1417320" cy="43891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544568"/>
            <a:ext cx="12710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기준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2258568" y="4498848"/>
            <a:ext cx="3566160" cy="43891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4544568"/>
            <a:ext cx="34198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model 대비 fine-tuned model의 성공률, 복구율, 증거 수집 품질 개선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6108192" y="3182112"/>
            <a:ext cx="1417320" cy="438912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3218688"/>
            <a:ext cx="13258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25512" y="3182112"/>
            <a:ext cx="3566160" cy="438912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71232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방향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08192" y="3621024"/>
            <a:ext cx="1417320" cy="43891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1344" y="3666744"/>
            <a:ext cx="12710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ToolBench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7525512" y="3621024"/>
            <a:ext cx="3566160" cy="43891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98664" y="3666744"/>
            <a:ext cx="34198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사용 및 multi-step tool calling 패턴 차용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6108192" y="4059936"/>
            <a:ext cx="14173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81344" y="4105656"/>
            <a:ext cx="12710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in the Wild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7525512" y="4059936"/>
            <a:ext cx="3566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98664" y="4105656"/>
            <a:ext cx="34198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Android 작업 흐름과 UI/앱 상태 변화 데이터 활용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6108192" y="4498848"/>
            <a:ext cx="1417320" cy="43891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1344" y="4544568"/>
            <a:ext cx="12710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실행 trace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7525512" y="4498848"/>
            <a:ext cx="3566160" cy="438912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98664" y="4544568"/>
            <a:ext cx="34198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ADB와 개발한 분석 도구를 이용해 대형 모델로 생성한 실행 데이터를 조합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1005840" y="5815584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52144" y="5925312"/>
            <a:ext cx="967435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방향</a:t>
            </a:r>
            <a:endParaRPr lang="en-US" sz="870" dirty="0"/>
          </a:p>
        </p:txBody>
      </p:sp>
      <p:sp>
        <p:nvSpPr>
          <p:cNvPr id="51" name="Text 49"/>
          <p:cNvSpPr/>
          <p:nvPr/>
        </p:nvSpPr>
        <p:spPr>
          <a:xfrm>
            <a:off x="1152144" y="6254496"/>
            <a:ext cx="9674352" cy="-73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보안 추론 모델이 아니라 Android 검증 Harness의 action 선택, 상태 복구, evidence 수집에 특화된 운영 모델로 구성</a:t>
            </a:r>
            <a:endParaRPr lang="en-US" sz="7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계획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 AI의 단말 조작, 복구, 증거 수집 능력을 자체 벤치마크로 정량 평가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682496"/>
            <a:ext cx="245059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벤치마크 목적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923544" y="2011680"/>
            <a:ext cx="2450592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취약점 검증 자동화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후보 -&gt; 동적 증거 확인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Harness 성능 정량 평가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767328" y="1572768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3632" y="1682496"/>
            <a:ext cx="245059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방식의 한계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3913632" y="2011680"/>
            <a:ext cx="2450592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finding 중심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exploitability 불명확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 / Refutation 평가 부족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조작 능력 미평가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57416" y="1572768"/>
            <a:ext cx="4343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682496"/>
            <a:ext cx="405079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 AI 평가 방식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6903720" y="2011680"/>
            <a:ext cx="4050792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typed action 선택 · 실패 시 복구 · 상태 관찰 · 증거 수집 · 과장 없는 판정 지원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adb/shell 직접 실행 없이 제한된 action만 선택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841248" y="3127248"/>
            <a:ext cx="1508760" cy="384048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163824"/>
            <a:ext cx="14173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케이스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50008" y="3127248"/>
            <a:ext cx="3291840" cy="384048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95728" y="3163824"/>
            <a:ext cx="32004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" y="3511296"/>
            <a:ext cx="1508760" cy="38404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557016"/>
            <a:ext cx="136245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Synthetic set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2350008" y="3511296"/>
            <a:ext cx="3291840" cy="38404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3557016"/>
            <a:ext cx="314553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vulnerable app / secure variant / attacker app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41248" y="3895344"/>
            <a:ext cx="15087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941064"/>
            <a:ext cx="136245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전제조건 검증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2350008" y="3895344"/>
            <a:ext cx="32918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3941064"/>
            <a:ext cx="314553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forced-precondition case 분리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41248" y="4279392"/>
            <a:ext cx="1508760" cy="38404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325112"/>
            <a:ext cx="136245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앱 평가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2350008" y="4279392"/>
            <a:ext cx="3291840" cy="38404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4325112"/>
            <a:ext cx="314553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 app 10종 E2E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841248" y="4663440"/>
            <a:ext cx="15087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709160"/>
            <a:ext cx="136245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취약점 커버리지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2350008" y="4663440"/>
            <a:ext cx="32918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4709160"/>
            <a:ext cx="314553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exported component, deep link/WebView, provider, sandbox file trust, UI input to sink, service/broadcast trigger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5897880" y="3127248"/>
            <a:ext cx="1234440" cy="384048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163824"/>
            <a:ext cx="11430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132320" y="3127248"/>
            <a:ext cx="3840480" cy="384048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78040" y="3163824"/>
            <a:ext cx="37490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97880" y="3511296"/>
            <a:ext cx="1234440" cy="38404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71032" y="3557016"/>
            <a:ext cx="108813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평가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7132320" y="3511296"/>
            <a:ext cx="3840480" cy="38404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3557016"/>
            <a:ext cx="369417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Qwen3.5 - 9B base vs fine-tuned 개선 효과 측정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5897880" y="3895344"/>
            <a:ext cx="12344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71032" y="3941064"/>
            <a:ext cx="108813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라벨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7132320" y="3895344"/>
            <a:ext cx="38404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05472" y="3941064"/>
            <a:ext cx="369417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confirmed / refuted / inconclusive / forced-precondition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5897880" y="4279392"/>
            <a:ext cx="1234440" cy="38404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71032" y="4325112"/>
            <a:ext cx="108813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산출물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7132320" y="4279392"/>
            <a:ext cx="3840480" cy="38404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05472" y="4325112"/>
            <a:ext cx="369417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CaseSpec, Typed Action Catalog, HarnessRunReport, Evidence Ledger, Score Report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1005840" y="5806440"/>
            <a:ext cx="9966960" cy="493776"/>
          </a:xfrm>
          <a:prstGeom prst="roundRect">
            <a:avLst>
              <a:gd name="adj" fmla="val 11111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52144" y="5916168"/>
            <a:ext cx="967435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1152144" y="6245352"/>
            <a:ext cx="9674352" cy="-365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전제조건을 강제로 만든 case는 full-chain exploit으로 과장하지 않고 downstream 동작 검증으로 분리 기록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허용된 action 안에서 단말 실행과 observation 수집을 조정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2532888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883664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143000" y="1874520"/>
            <a:ext cx="194767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목표 수신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2167128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조건과 현재 Proof State 확인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246120" y="2157984"/>
            <a:ext cx="182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38144" y="1783080"/>
            <a:ext cx="2532888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883664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895344" y="1874520"/>
            <a:ext cx="194767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Typed Action 선택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3621024" y="2240280"/>
            <a:ext cx="2167128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write_artifact, collect_logcat, check_ui_state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998464" y="2157984"/>
            <a:ext cx="182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0488" y="1783080"/>
            <a:ext cx="2532888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883664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647688" y="1874520"/>
            <a:ext cx="194767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및 수집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6373368" y="2240280"/>
            <a:ext cx="2167128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ADB / Tool / 단말 결과 수집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750808" y="2157984"/>
            <a:ext cx="182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42832" y="1783080"/>
            <a:ext cx="2532888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70848" y="1883664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F7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9400032" y="1874520"/>
            <a:ext cx="194767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및 보고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9125712" y="2240280"/>
            <a:ext cx="2167128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Observation Summary와 cleanup 결과 기록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1005840" y="3977640"/>
            <a:ext cx="1965960" cy="457200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014216"/>
            <a:ext cx="18745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항목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71800" y="3977640"/>
            <a:ext cx="8229600" cy="457200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4014216"/>
            <a:ext cx="81381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05840" y="4434840"/>
            <a:ext cx="1965960" cy="4572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4480560"/>
            <a:ext cx="1819656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제한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2971800" y="4434840"/>
            <a:ext cx="8229600" cy="4572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44952" y="4480560"/>
            <a:ext cx="8083296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adb/shell 직접 노출 차단 및 allowlist 기반 실행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1005840" y="4892040"/>
            <a:ext cx="196596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" y="4937760"/>
            <a:ext cx="1819656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한계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2971800" y="4892040"/>
            <a:ext cx="82296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44952" y="4937760"/>
            <a:ext cx="8083296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retry와 실패 trace 보존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1005840" y="5349240"/>
            <a:ext cx="1965960" cy="4572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8992" y="5394960"/>
            <a:ext cx="1819656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추적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2971800" y="5349240"/>
            <a:ext cx="8229600" cy="4572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44952" y="5394960"/>
            <a:ext cx="8083296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명령, raw signal, artifact를 evidence bundle로 관리</a:t>
            </a:r>
            <a:endParaRPr lang="en-US" sz="9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 / Oracle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evidence와 oracle rule 기준으로 최종 상태를 판정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664208"/>
            <a:ext cx="1828800" cy="566928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00784"/>
            <a:ext cx="173736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1664208"/>
            <a:ext cx="5532120" cy="566928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700784"/>
            <a:ext cx="544068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의미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664208"/>
            <a:ext cx="3200400" cy="566928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700784"/>
            <a:ext cx="310896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방향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231136"/>
            <a:ext cx="1828800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276856"/>
            <a:ext cx="168249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Confirmed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2651760" y="2231136"/>
            <a:ext cx="5532120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2276856"/>
            <a:ext cx="538581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요구한 evidence와 oracle 조건 충족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8183880" y="2231136"/>
            <a:ext cx="3200400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7032" y="2276856"/>
            <a:ext cx="305409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finding 후보로 채택 가능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822960" y="2798064"/>
            <a:ext cx="1828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2843784"/>
            <a:ext cx="168249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Refuted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2651760" y="2798064"/>
            <a:ext cx="55321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2843784"/>
            <a:ext cx="538581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결과가 가설 또는 oracle 조건과 불일치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8183880" y="2798064"/>
            <a:ext cx="32004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7032" y="2843784"/>
            <a:ext cx="305409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제외 또는 가설 수정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822960" y="3364992"/>
            <a:ext cx="1828800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410712"/>
            <a:ext cx="168249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Inconclusive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2651760" y="3364992"/>
            <a:ext cx="5532120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3410712"/>
            <a:ext cx="538581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부족 또는 사전 조건 미충족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183880" y="3364992"/>
            <a:ext cx="3200400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57032" y="3410712"/>
            <a:ext cx="305409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검증 목표로 회수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1005840" y="4800600"/>
            <a:ext cx="10149840" cy="685800"/>
          </a:xfrm>
          <a:prstGeom prst="roundRect">
            <a:avLst>
              <a:gd name="adj" fmla="val 8000"/>
            </a:avLst>
          </a:prstGeom>
          <a:solidFill>
            <a:srgbClr val="EFF6FC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52144" y="4910328"/>
            <a:ext cx="985723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원칙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1152144" y="5239512"/>
            <a:ext cx="9857232" cy="155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판단은 모델 설명이 아니라 저장된 observation, trace, artifact, oracle rule에 근거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5029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부서장 피드백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8638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확인 포인트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778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범위, 검증 환경, finding 채택 기준, 다음 단계 산출물 확정 필요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11018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6446520"/>
            <a:ext cx="731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664208"/>
            <a:ext cx="1965960" cy="566928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00784"/>
            <a:ext cx="18745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항목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0" y="1664208"/>
            <a:ext cx="5623560" cy="566928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700784"/>
            <a:ext cx="553212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 내용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66760" y="1664208"/>
            <a:ext cx="3063240" cy="566928"/>
          </a:xfrm>
          <a:prstGeom prst="rect">
            <a:avLst/>
          </a:prstGeom>
          <a:solidFill>
            <a:srgbClr val="17365D"/>
          </a:solidFill>
          <a:ln w="10160">
            <a:solidFill>
              <a:srgbClr val="17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700784"/>
            <a:ext cx="297180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필요 사항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231136"/>
            <a:ext cx="1965960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276856"/>
            <a:ext cx="181965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취약점 유형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2743200" y="2231136"/>
            <a:ext cx="5623560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2276856"/>
            <a:ext cx="547725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exported component, WebView bridge, deeplink, storage, network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8366760" y="2231136"/>
            <a:ext cx="3063240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2276856"/>
            <a:ext cx="291693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검증 범위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77240" y="2798064"/>
            <a:ext cx="19659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2843784"/>
            <a:ext cx="181965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환경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2743200" y="2798064"/>
            <a:ext cx="56235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2843784"/>
            <a:ext cx="547725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emulator, real device, OS version, 테스트 계정, 데이터 초기화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8366760" y="2798064"/>
            <a:ext cx="30632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9912" y="2843784"/>
            <a:ext cx="291693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기준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777240" y="3364992"/>
            <a:ext cx="1965960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410712"/>
            <a:ext cx="181965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Finding 채택 기준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2743200" y="3364992"/>
            <a:ext cx="5623560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16352" y="3410712"/>
            <a:ext cx="547725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Confirmed / Refuted / Inconclusive 판정과 보고서 반영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366760" y="3364992"/>
            <a:ext cx="3063240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9912" y="3410712"/>
            <a:ext cx="291693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기준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77240" y="3931920"/>
            <a:ext cx="19659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" y="3977640"/>
            <a:ext cx="181965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산출물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2743200" y="3931920"/>
            <a:ext cx="56235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16352" y="3977640"/>
            <a:ext cx="547725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명세 양식, evidence bundle, oracle rule, 데모 앱 세트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366760" y="3931920"/>
            <a:ext cx="30632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9912" y="3977640"/>
            <a:ext cx="291693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항목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present-anything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Android 보안 분석 및 검증 Harness</dc:title>
  <dc:subject>AI 기반 Android 보안 분석 및 검증 Harness</dc:subject>
  <dc:creator>present-anything</dc:creator>
  <cp:lastModifiedBy>present-anything</cp:lastModifiedBy>
  <cp:revision>1</cp:revision>
  <dcterms:created xsi:type="dcterms:W3CDTF">2026-06-01T06:21:57Z</dcterms:created>
  <dcterms:modified xsi:type="dcterms:W3CDTF">2026-06-01T06:21:57Z</dcterms:modified>
</cp:coreProperties>
</file>